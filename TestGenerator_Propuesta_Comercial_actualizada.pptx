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8" r:id="rId3"/>
    <p:sldId id="259" r:id="rId4"/>
    <p:sldId id="257" r:id="rId5"/>
    <p:sldId id="262" r:id="rId6"/>
    <p:sldId id="263" r:id="rId7"/>
    <p:sldId id="264" r:id="rId8"/>
    <p:sldId id="27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36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378ead29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378ead29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Abrir con el origen: esta solución nace de una necesidad real del equipo QA, no de una idea aislada de IA. Mensaje central: acelerar sin perder control.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f1424c78d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2f1424c78d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Contar la situación desde QA: matrices extensas, pruebas repetitivas, evidencia manual y discusiones lentas al reportar defectos. Evitar mencionar clientes previos salvo que pregunten; usar datos simulados.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problema era operativo y técnico. La automatización no escala si cada caso obliga a reconstruir login, datos, pantallas y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lámina para dar confianza técnica. El core es común; la adaptación por aplicación vive en perfiles, catálogos, Page Objects, fixtures, servicios y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la personalización requiere evaluación. Historias, Excel y JSON funcionan cuando cumplen estructura mínima. Otros formatos o conectores se estiman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 gobierno: los candidatos requieren aprobación QA, se revisa reutilización y sólo se acepta con validación. No presentar IA como generación sin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Vender valor práctico: menos repetición, más evidencia, menos fricción QA-desarrollo. No prometer 100% de automatización; hablar de cobertura estimada por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f1424c7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g32f1424c7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Cerrar con acción concreta: seleccionar una aplicación web candidata, revisar matriz o historias, estimar cobertura automatizable y definir célula de implementación.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1">
  <p:cSld name="Diapositiva de título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650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642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ns2:creationId id="{8493A066-EA71-2F3E-2269-D2E925AA330F}"/>
              </a:ext>
            </a:extLst>
          </p:cNvPr>
          <p:cNvSpPr txBox="1"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TestGenerator</a:t>
            </a:r>
          </a:p>
        </p:txBody>
      </p:sp>
      <p:sp>
        <p:nvSpPr>
          <p:cNvPr id="5" name="Text 5">
            <a:extLst>
              <a:ext uri="{FF2B5EF4-FFF2-40B4-BE49-F238E27FC236}">
                <ns2:creationId id="{FCA110EB-50E5-2E43-EF45-30D270AF6D7A}"/>
              </a:ext>
            </a:extLst>
          </p:cNvPr>
          <p:cNvSpPr txBox="1"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automatización QA asistida por IA</a:t>
            </a:r>
          </a:p>
        </p:txBody>
      </p:sp>
      <p:sp>
        <p:nvSpPr>
          <p:cNvPr id="7" name="Text 7">
            <a:extLst>
              <a:ext uri="{FF2B5EF4-FFF2-40B4-BE49-F238E27FC236}">
                <ns2:creationId id="{FD2CA02C-94F6-2A37-5CC3-AB95E2D5B748}"/>
              </a:ext>
            </a:extLst>
          </p:cNvPr>
          <p:cNvSpPr txBox="1"/>
          <p:nvPr/>
        </p:nvSpPr>
        <p:spPr>
          <a:xfrm>
            <a:off x="822960" y="4892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Nacido en QA para acelerar pruebas web con trazabilidad, evidencia y control humano.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3"/>
          <p:cNvSpPr txBox="1"/>
          <p:nvPr/>
        </p:nvSpPr>
        <p:spPr>
          <a:xfrm>
            <a:off x="898947" y="1849317"/>
            <a:ext cx="4619200" cy="109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67" rIns="45700" bIns="22867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</a:pPr>
            <a:r>
              <a:rPr lang="es-419" sz="4267">
                <a:solidFill>
                  <a:srgbClr val="1B1C38"/>
                </a:solidFill>
                <a:latin typeface="Titillium Web"/>
                <a:ea typeface="Titillium Web"/>
                <a:cs typeface="Titillium Web"/>
                <a:sym typeface="Titillium Web"/>
              </a:rPr>
              <a:t>¿Por qué nació?</a:t>
            </a:r>
          </a:p>
        </p:txBody>
      </p:sp>
      <p:sp>
        <p:nvSpPr>
          <p:cNvPr id="124" name="Google Shape;124;p43"/>
          <p:cNvSpPr txBox="1"/>
          <p:nvPr/>
        </p:nvSpPr>
        <p:spPr>
          <a:xfrm>
            <a:off x="467037" y="3486444"/>
            <a:ext cx="6026000" cy="54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304792" indent="-304792">
              <a:lnSpc>
                <a:spcPct val="90000"/>
              </a:lnSpc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s-419" sz="2133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QA necesitaba automatizar más casos sin perder control.</a:t>
            </a:r>
          </a:p>
          <a:p>
            <a:pPr marL="304792" indent="-304792">
              <a:lnSpc>
                <a:spcPct val="90000"/>
              </a:lnSpc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s-419" sz="2133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Había matrices extensas, pruebas repetitivas, evidencia manual y fricción al reportar defectos.</a:t>
            </a:r>
          </a:p>
          <a:p>
            <a:pPr marL="304792" indent="-304792">
              <a:lnSpc>
                <a:spcPct val="90000"/>
              </a:lnSpc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s-419" sz="2133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TestGenerator ordena el flujo: entrada funcional, revisión QA, automatización reutilizable y evidencia.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74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9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INICIAL DE QA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1018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era sostener calidad, trazabilidad y velocidad en aplicaciones web con alta presión de entrega.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2386584"/>
            <a:ext cx="3493008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2660904"/>
            <a:ext cx="3044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</a:t>
            </a:r>
          </a:p>
        </p:txBody>
      </p:sp>
      <p:sp>
        <p:nvSpPr>
          <p:cNvPr id="6" name="Text 4"/>
          <p:cNvSpPr/>
          <p:nvPr/>
        </p:nvSpPr>
        <p:spPr>
          <a:xfrm>
            <a:off x="813816" y="3319272"/>
            <a:ext cx="3035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grandes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dispersos</a:t>
            </a:r>
          </a:p>
        </p:txBody>
      </p:sp>
      <p:sp>
        <p:nvSpPr>
          <p:cNvPr id="7" name="Text 5"/>
          <p:cNvSpPr/>
          <p:nvPr/>
        </p:nvSpPr>
        <p:spPr>
          <a:xfrm>
            <a:off x="813816" y="450799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frente exigía ordenar casos, datos y prioridades antes de automatizar.</a:t>
            </a:r>
          </a:p>
        </p:txBody>
      </p:sp>
      <p:sp>
        <p:nvSpPr>
          <p:cNvPr id="8" name="Shape 6"/>
          <p:cNvSpPr/>
          <p:nvPr/>
        </p:nvSpPr>
        <p:spPr>
          <a:xfrm>
            <a:off x="4334256" y="2386584"/>
            <a:ext cx="3493008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660904"/>
            <a:ext cx="3044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Repetición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3319272"/>
            <a:ext cx="3035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pantallas</a:t>
            </a:r>
          </a:p>
        </p:txBody>
      </p:sp>
      <p:sp>
        <p:nvSpPr>
          <p:cNvPr id="11" name="Text 9"/>
          <p:cNvSpPr/>
          <p:nvPr/>
        </p:nvSpPr>
        <p:spPr>
          <a:xfrm>
            <a:off x="4553712" y="450799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repetía componentes comunes en lugar de reutilizar una base probada.</a:t>
            </a:r>
          </a:p>
        </p:txBody>
      </p:sp>
      <p:sp>
        <p:nvSpPr>
          <p:cNvPr id="12" name="Shape 10"/>
          <p:cNvSpPr/>
          <p:nvPr/>
        </p:nvSpPr>
        <p:spPr>
          <a:xfrm>
            <a:off x="8074152" y="2386584"/>
            <a:ext cx="3493008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2660904"/>
            <a:ext cx="3044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</a:p>
        </p:txBody>
      </p:sp>
      <p:sp>
        <p:nvSpPr>
          <p:cNvPr id="14" name="Text 12"/>
          <p:cNvSpPr/>
          <p:nvPr/>
        </p:nvSpPr>
        <p:spPr>
          <a:xfrm>
            <a:off x="8293608" y="3319272"/>
            <a:ext cx="3035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e incidencias</a:t>
            </a:r>
          </a:p>
        </p:txBody>
      </p:sp>
      <p:sp>
        <p:nvSpPr>
          <p:cNvPr id="15" name="Text 13"/>
          <p:cNvSpPr/>
          <p:nvPr/>
        </p:nvSpPr>
        <p:spPr>
          <a:xfrm>
            <a:off x="8293608" y="450799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objetiva, QA y desarrollo perdían tiempo explicando fallas.</a:t>
            </a:r>
          </a:p>
        </p:txBody>
      </p:sp>
      <p:sp>
        <p:nvSpPr>
          <p:cNvPr id="16" name="Shape 14"/>
          <p:cNvSpPr/>
          <p:nvPr/>
        </p:nvSpPr>
        <p:spPr>
          <a:xfrm>
            <a:off x="594360" y="5385816"/>
            <a:ext cx="10981944" cy="658368"/>
          </a:xfrm>
          <a:prstGeom prst="roundRect">
            <a:avLst>
              <a:gd name="adj" fmla="val 18056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559552"/>
            <a:ext cx="1048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oportunidad: convertir conocimiento funcional en automatización trazable.</a:t>
            </a:r>
          </a:p>
        </p:txBody>
      </p:sp>
      <p:sp>
        <p:nvSpPr>
          <p:cNvPr id="18" name="Text 16"/>
          <p:cNvSpPr/>
          <p:nvPr/>
        </p:nvSpPr>
        <p:spPr>
          <a:xfrm>
            <a:off x="621792" y="6153912"/>
            <a:ext cx="1093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automatizable depende de cada aplicación; no se promete 100%.</a:t>
            </a:r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TESTGENERATOR  /  PRUEBAS AL RITMO DEL DESARROLLO</a:t>
            </a:r>
          </a:p>
        </p:txBody>
      </p:sp>
      <p:sp>
        <p:nvSpPr>
          <p:cNvPr id="20" name="Text 18"/>
          <p:cNvSpPr/>
          <p:nvPr/>
        </p:nvSpPr>
        <p:spPr>
          <a:xfrm>
            <a:off x="10405872" y="64556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96112"/>
            <a:ext cx="11018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</a:p>
        </p:txBody>
      </p:sp>
      <p:sp>
        <p:nvSpPr>
          <p:cNvPr id="4" name="Text 2"/>
          <p:cNvSpPr/>
          <p:nvPr/>
        </p:nvSpPr>
        <p:spPr>
          <a:xfrm>
            <a:off x="612648" y="2167128"/>
            <a:ext cx="10698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común separa reglas del framework y adaptación por aplicación.</a:t>
            </a:r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2560320" cy="2505456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825496"/>
            <a:ext cx="384048" cy="38404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828239"/>
            <a:ext cx="3840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795528" y="3447288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</a:t>
            </a:r>
          </a:p>
        </p:txBody>
      </p:sp>
      <p:sp>
        <p:nvSpPr>
          <p:cNvPr id="9" name="Text 7"/>
          <p:cNvSpPr/>
          <p:nvPr/>
        </p:nvSpPr>
        <p:spPr>
          <a:xfrm>
            <a:off x="795528" y="41330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 JSON.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4800600"/>
            <a:ext cx="2167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65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ADAPTERS</a:t>
            </a:r>
          </a:p>
        </p:txBody>
      </p:sp>
      <p:sp>
        <p:nvSpPr>
          <p:cNvPr id="11" name="Text 9"/>
          <p:cNvSpPr/>
          <p:nvPr/>
        </p:nvSpPr>
        <p:spPr>
          <a:xfrm>
            <a:off x="3191256" y="3685032"/>
            <a:ext cx="173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2" name="Shape 10"/>
          <p:cNvSpPr/>
          <p:nvPr/>
        </p:nvSpPr>
        <p:spPr>
          <a:xfrm>
            <a:off x="3401568" y="2606040"/>
            <a:ext cx="2560320" cy="2505456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825496"/>
            <a:ext cx="384048" cy="38404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828239"/>
            <a:ext cx="3840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Text 13"/>
          <p:cNvSpPr/>
          <p:nvPr/>
        </p:nvSpPr>
        <p:spPr>
          <a:xfrm>
            <a:off x="3602736" y="3447288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QA</a:t>
            </a:r>
          </a:p>
        </p:txBody>
      </p:sp>
      <p:sp>
        <p:nvSpPr>
          <p:cNvPr id="16" name="Text 14"/>
          <p:cNvSpPr/>
          <p:nvPr/>
        </p:nvSpPr>
        <p:spPr>
          <a:xfrm>
            <a:off x="3602736" y="41330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aprobación.</a:t>
            </a:r>
          </a:p>
        </p:txBody>
      </p:sp>
      <p:sp>
        <p:nvSpPr>
          <p:cNvPr id="17" name="Text 15"/>
          <p:cNvSpPr/>
          <p:nvPr/>
        </p:nvSpPr>
        <p:spPr>
          <a:xfrm>
            <a:off x="3602736" y="4800600"/>
            <a:ext cx="2167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65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</a:p>
        </p:txBody>
      </p:sp>
      <p:sp>
        <p:nvSpPr>
          <p:cNvPr id="18" name="Text 16"/>
          <p:cNvSpPr/>
          <p:nvPr/>
        </p:nvSpPr>
        <p:spPr>
          <a:xfrm>
            <a:off x="5998464" y="3685032"/>
            <a:ext cx="173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9" name="Shape 17"/>
          <p:cNvSpPr/>
          <p:nvPr/>
        </p:nvSpPr>
        <p:spPr>
          <a:xfrm>
            <a:off x="6208776" y="2606040"/>
            <a:ext cx="2560320" cy="2505456"/>
          </a:xfrm>
          <a:prstGeom prst="roundRect">
            <a:avLst>
              <a:gd name="adj" fmla="val 4745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825496"/>
            <a:ext cx="384048" cy="384048"/>
          </a:xfrm>
          <a:prstGeom prst="ellipse">
            <a:avLst/>
          </a:prstGeom>
          <a:solidFill>
            <a:srgbClr val="00C2D1"/>
          </a:solidFill>
          <a:ln w="3810">
            <a:solidFill>
              <a:srgbClr val="00C2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828239"/>
            <a:ext cx="3840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6409944" y="3447288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</a:p>
        </p:txBody>
      </p:sp>
      <p:sp>
        <p:nvSpPr>
          <p:cNvPr id="23" name="Text 21"/>
          <p:cNvSpPr/>
          <p:nvPr/>
        </p:nvSpPr>
        <p:spPr>
          <a:xfrm>
            <a:off x="6409944" y="41330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POM,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y servicios.</a:t>
            </a:r>
          </a:p>
        </p:txBody>
      </p:sp>
      <p:sp>
        <p:nvSpPr>
          <p:cNvPr id="24" name="Text 22"/>
          <p:cNvSpPr/>
          <p:nvPr/>
        </p:nvSpPr>
        <p:spPr>
          <a:xfrm>
            <a:off x="6409944" y="4800600"/>
            <a:ext cx="2167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65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</a:p>
        </p:txBody>
      </p:sp>
      <p:sp>
        <p:nvSpPr>
          <p:cNvPr id="25" name="Text 23"/>
          <p:cNvSpPr/>
          <p:nvPr/>
        </p:nvSpPr>
        <p:spPr>
          <a:xfrm>
            <a:off x="8805672" y="3685032"/>
            <a:ext cx="173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6" name="Shape 24"/>
          <p:cNvSpPr/>
          <p:nvPr/>
        </p:nvSpPr>
        <p:spPr>
          <a:xfrm>
            <a:off x="9015984" y="2606040"/>
            <a:ext cx="2560320" cy="2505456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2825496"/>
            <a:ext cx="384048" cy="38404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8008" y="2828239"/>
            <a:ext cx="3840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9" name="Text 27"/>
          <p:cNvSpPr/>
          <p:nvPr/>
        </p:nvSpPr>
        <p:spPr>
          <a:xfrm>
            <a:off x="9217152" y="3447288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</a:p>
        </p:txBody>
      </p:sp>
      <p:sp>
        <p:nvSpPr>
          <p:cNvPr id="30" name="Text 28"/>
          <p:cNvSpPr/>
          <p:nvPr/>
        </p:nvSpPr>
        <p:spPr>
          <a:xfrm>
            <a:off x="9217152" y="41330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e incidencias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autorización.</a:t>
            </a:r>
          </a:p>
        </p:txBody>
      </p:sp>
      <p:sp>
        <p:nvSpPr>
          <p:cNvPr id="31" name="Text 29"/>
          <p:cNvSpPr/>
          <p:nvPr/>
        </p:nvSpPr>
        <p:spPr>
          <a:xfrm>
            <a:off x="9217152" y="4800600"/>
            <a:ext cx="2167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65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</a:p>
        </p:txBody>
      </p:sp>
      <p:sp>
        <p:nvSpPr>
          <p:cNvPr id="32" name="Shape 30"/>
          <p:cNvSpPr/>
          <p:nvPr/>
        </p:nvSpPr>
        <p:spPr>
          <a:xfrm>
            <a:off x="594360" y="5513832"/>
            <a:ext cx="10981944" cy="603504"/>
          </a:xfrm>
          <a:prstGeom prst="roundRect">
            <a:avLst>
              <a:gd name="adj" fmla="val 19697"/>
            </a:avLst>
          </a:prstGeom>
          <a:solidFill>
            <a:srgbClr val="E7F6F8"/>
          </a:solidFill>
          <a:ln w="10160">
            <a:solidFill>
              <a:srgbClr val="E7F6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" y="56418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no contiene lógica del cliente. Cada aplicación se configura con perfil, catálogo, páginas, datos y servicios.</a:t>
            </a:r>
          </a:p>
        </p:txBody>
      </p:sp>
      <p:sp>
        <p:nvSpPr>
          <p:cNvPr id="35" name="Text 33"/>
          <p:cNvSpPr/>
          <p:nvPr/>
        </p:nvSpPr>
        <p:spPr>
          <a:xfrm>
            <a:off x="10405872" y="64556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74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9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PARA RIMAC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1018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adapta a su forma de trabajo tras evaluar la aplicación candidata.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2414016"/>
            <a:ext cx="3493008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2633472"/>
            <a:ext cx="3054096" cy="301752"/>
          </a:xfrm>
          <a:prstGeom prst="roundRect">
            <a:avLst>
              <a:gd name="adj" fmla="val 39394"/>
            </a:avLst>
          </a:prstGeom>
          <a:solidFill>
            <a:srgbClr val="E7F6F8"/>
          </a:solidFill>
          <a:ln w="10160">
            <a:solidFill>
              <a:srgbClr val="E7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6517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</a:p>
        </p:txBody>
      </p:sp>
      <p:sp>
        <p:nvSpPr>
          <p:cNvPr id="7" name="Text 5"/>
          <p:cNvSpPr/>
          <p:nvPr/>
        </p:nvSpPr>
        <p:spPr>
          <a:xfrm>
            <a:off x="813816" y="32186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llega la información</a:t>
            </a:r>
          </a:p>
        </p:txBody>
      </p:sp>
      <p:sp>
        <p:nvSpPr>
          <p:cNvPr id="8" name="Text 6"/>
          <p:cNvSpPr/>
          <p:nvPr/>
        </p:nvSpPr>
        <p:spPr>
          <a:xfrm>
            <a:off x="813816" y="3803904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Historias, Excel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JSON estructurado.</a:t>
            </a:r>
          </a:p>
        </p:txBody>
      </p:sp>
      <p:sp>
        <p:nvSpPr>
          <p:cNvPr id="9" name="Text 7"/>
          <p:cNvSpPr/>
          <p:nvPr/>
        </p:nvSpPr>
        <p:spPr>
          <a:xfrm>
            <a:off x="813816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formatos requieren mapeo y validación antes de usarse.</a:t>
            </a:r>
          </a:p>
        </p:txBody>
      </p:sp>
      <p:sp>
        <p:nvSpPr>
          <p:cNvPr id="10" name="Shape 8"/>
          <p:cNvSpPr/>
          <p:nvPr/>
        </p:nvSpPr>
        <p:spPr>
          <a:xfrm>
            <a:off x="4334256" y="2414016"/>
            <a:ext cx="3493008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633472"/>
            <a:ext cx="3054096" cy="301752"/>
          </a:xfrm>
          <a:prstGeom prst="roundRect">
            <a:avLst>
              <a:gd name="adj" fmla="val 39394"/>
            </a:avLst>
          </a:prstGeom>
          <a:solidFill>
            <a:srgbClr val="E7F6F8"/>
          </a:solidFill>
          <a:ln w="10160">
            <a:solidFill>
              <a:srgbClr val="E7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6517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</a:p>
        </p:txBody>
      </p:sp>
      <p:sp>
        <p:nvSpPr>
          <p:cNvPr id="13" name="Text 11"/>
          <p:cNvSpPr/>
          <p:nvPr/>
        </p:nvSpPr>
        <p:spPr>
          <a:xfrm>
            <a:off x="4553712" y="32186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automatiza</a:t>
            </a:r>
          </a:p>
        </p:txBody>
      </p:sp>
      <p:sp>
        <p:nvSpPr>
          <p:cNvPr id="14" name="Text 12"/>
          <p:cNvSpPr/>
          <p:nvPr/>
        </p:nvSpPr>
        <p:spPr>
          <a:xfrm>
            <a:off x="4553712" y="3803904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Accesos, pantallas,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reglas del negocio.</a:t>
            </a:r>
          </a:p>
        </p:txBody>
      </p:sp>
      <p:sp>
        <p:nvSpPr>
          <p:cNvPr id="15" name="Text 13"/>
          <p:cNvSpPr/>
          <p:nvPr/>
        </p:nvSpPr>
        <p:spPr>
          <a:xfrm>
            <a:off x="4553712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adaptación se estima por aplicación, no sólo por cambiar una URL.</a:t>
            </a:r>
          </a:p>
        </p:txBody>
      </p:sp>
      <p:sp>
        <p:nvSpPr>
          <p:cNvPr id="16" name="Shape 14"/>
          <p:cNvSpPr/>
          <p:nvPr/>
        </p:nvSpPr>
        <p:spPr>
          <a:xfrm>
            <a:off x="8074152" y="2414016"/>
            <a:ext cx="3493008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2633472"/>
            <a:ext cx="3054096" cy="301752"/>
          </a:xfrm>
          <a:prstGeom prst="roundRect">
            <a:avLst>
              <a:gd name="adj" fmla="val 39394"/>
            </a:avLst>
          </a:prstGeom>
          <a:solidFill>
            <a:srgbClr val="E7F6F8"/>
          </a:solidFill>
          <a:ln w="10160">
            <a:solidFill>
              <a:srgbClr val="E7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6517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</a:p>
        </p:txBody>
      </p:sp>
      <p:sp>
        <p:nvSpPr>
          <p:cNvPr id="19" name="Text 17"/>
          <p:cNvSpPr/>
          <p:nvPr/>
        </p:nvSpPr>
        <p:spPr>
          <a:xfrm>
            <a:off x="8293608" y="32186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ve valor el equipo</a:t>
            </a:r>
          </a:p>
        </p:txBody>
      </p:sp>
      <p:sp>
        <p:nvSpPr>
          <p:cNvPr id="20" name="Text 18"/>
          <p:cNvSpPr/>
          <p:nvPr/>
        </p:nvSpPr>
        <p:spPr>
          <a:xfrm>
            <a:off x="8293608" y="3803904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Reporte, evidencia,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trazas e incidencias.</a:t>
            </a:r>
          </a:p>
        </p:txBody>
      </p:sp>
      <p:sp>
        <p:nvSpPr>
          <p:cNvPr id="21" name="Text 19"/>
          <p:cNvSpPr/>
          <p:nvPr/>
        </p:nvSpPr>
        <p:spPr>
          <a:xfrm>
            <a:off x="8293608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está demostrado; otros conectores se validan según entorno.</a:t>
            </a:r>
          </a:p>
        </p:txBody>
      </p:sp>
      <p:sp>
        <p:nvSpPr>
          <p:cNvPr id="22" name="Text 20"/>
          <p:cNvSpPr/>
          <p:nvPr/>
        </p:nvSpPr>
        <p:spPr>
          <a:xfrm>
            <a:off x="621792" y="5303520"/>
            <a:ext cx="10963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 común reduce trabajo repetido y deja visibles las decisiones de QA.</a:t>
            </a:r>
          </a:p>
        </p:txBody>
      </p:sp>
      <p:sp>
        <p:nvSpPr>
          <p:cNvPr id="23" name="Text 21"/>
          <p:cNvSpPr/>
          <p:nvPr/>
        </p:nvSpPr>
        <p:spPr>
          <a:xfrm>
            <a:off x="621792" y="6089904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y precio se acuerdan tras revisar alcance, datos e integraciones.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TESTGENERATOR  /  PRUEBAS AL RITMO DEL DESARROLLO</a:t>
            </a:r>
          </a:p>
        </p:txBody>
      </p:sp>
      <p:sp>
        <p:nvSpPr>
          <p:cNvPr id="25" name="Text 23"/>
          <p:cNvSpPr/>
          <p:nvPr/>
        </p:nvSpPr>
        <p:spPr>
          <a:xfrm>
            <a:off x="10405872" y="64556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74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9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GOBERNADO DE DEMO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101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ayuda a implementar. QA decide qué se acepta.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2176272"/>
            <a:ext cx="5367528" cy="2240280"/>
          </a:xfrm>
          <a:prstGeom prst="roundRect">
            <a:avLst>
              <a:gd name="adj" fmla="val 5306"/>
            </a:avLst>
          </a:prstGeom>
          <a:solidFill>
            <a:srgbClr val="122D50"/>
          </a:solidFill>
          <a:ln w="10160">
            <a:solidFill>
              <a:srgbClr val="27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96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generar</a:t>
            </a:r>
          </a:p>
        </p:txBody>
      </p:sp>
      <p:sp>
        <p:nvSpPr>
          <p:cNvPr id="6" name="Text 4"/>
          <p:cNvSpPr/>
          <p:nvPr/>
        </p:nvSpPr>
        <p:spPr>
          <a:xfrm>
            <a:off x="868680" y="3191256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revisa el escenario.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cobertura existente.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queda trazado.</a:t>
            </a:r>
          </a:p>
        </p:txBody>
      </p:sp>
      <p:sp>
        <p:nvSpPr>
          <p:cNvPr id="7" name="Shape 5"/>
          <p:cNvSpPr/>
          <p:nvPr/>
        </p:nvSpPr>
        <p:spPr>
          <a:xfrm>
            <a:off x="6217920" y="2176272"/>
            <a:ext cx="5367528" cy="2240280"/>
          </a:xfrm>
          <a:prstGeom prst="roundRect">
            <a:avLst>
              <a:gd name="adj" fmla="val 5306"/>
            </a:avLst>
          </a:prstGeom>
          <a:solidFill>
            <a:srgbClr val="122D50"/>
          </a:solidFill>
          <a:ln w="10160">
            <a:solidFill>
              <a:srgbClr val="274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496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aceptar</a:t>
            </a:r>
          </a:p>
        </p:txBody>
      </p:sp>
      <p:sp>
        <p:nvSpPr>
          <p:cNvPr id="9" name="Text 7"/>
          <p:cNvSpPr/>
          <p:nvPr/>
        </p:nvSpPr>
        <p:spPr>
          <a:xfrm>
            <a:off x="6492240" y="3191256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código y prueba.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ejecutan gates.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evidencia.</a:t>
            </a:r>
          </a:p>
        </p:txBody>
      </p:sp>
      <p:sp>
        <p:nvSpPr>
          <p:cNvPr id="10" name="Text 8"/>
          <p:cNvSpPr/>
          <p:nvPr/>
        </p:nvSpPr>
        <p:spPr>
          <a:xfrm>
            <a:off x="621792" y="489204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</a:p>
        </p:txBody>
      </p:sp>
      <p:sp>
        <p:nvSpPr>
          <p:cNvPr id="11" name="Text 9"/>
          <p:cNvSpPr/>
          <p:nvPr/>
        </p:nvSpPr>
        <p:spPr>
          <a:xfrm>
            <a:off x="621792" y="5422392"/>
            <a:ext cx="3410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funcional de verdad</a:t>
            </a:r>
          </a:p>
        </p:txBody>
      </p:sp>
      <p:sp>
        <p:nvSpPr>
          <p:cNvPr id="12" name="Text 10"/>
          <p:cNvSpPr/>
          <p:nvPr/>
        </p:nvSpPr>
        <p:spPr>
          <a:xfrm>
            <a:off x="4361688" y="489204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</a:p>
        </p:txBody>
      </p:sp>
      <p:sp>
        <p:nvSpPr>
          <p:cNvPr id="13" name="Text 11"/>
          <p:cNvSpPr/>
          <p:nvPr/>
        </p:nvSpPr>
        <p:spPr>
          <a:xfrm>
            <a:off x="4361688" y="5422392"/>
            <a:ext cx="3410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reutilizables</a:t>
            </a:r>
          </a:p>
        </p:txBody>
      </p:sp>
      <p:sp>
        <p:nvSpPr>
          <p:cNvPr id="14" name="Text 12"/>
          <p:cNvSpPr/>
          <p:nvPr/>
        </p:nvSpPr>
        <p:spPr>
          <a:xfrm>
            <a:off x="8101584" y="489204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</a:p>
        </p:txBody>
      </p:sp>
      <p:sp>
        <p:nvSpPr>
          <p:cNvPr id="15" name="Text 13"/>
          <p:cNvSpPr/>
          <p:nvPr/>
        </p:nvSpPr>
        <p:spPr>
          <a:xfrm>
            <a:off x="8101584" y="5422392"/>
            <a:ext cx="3410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Typecheck, catálogo y auditorías</a:t>
            </a:r>
          </a:p>
        </p:txBody>
      </p:sp>
      <p:sp>
        <p:nvSpPr>
          <p:cNvPr id="16" name="Text 14"/>
          <p:cNvSpPr/>
          <p:nvPr/>
        </p:nvSpPr>
        <p:spPr>
          <a:xfrm>
            <a:off x="621792" y="612648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queda sujeto a revisión técnica y ejecución observable.</a:t>
            </a:r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AA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TESTGENERATOR  /  PRUEBAS AL RITMO DEL DESARROLLO</a:t>
            </a:r>
          </a:p>
        </p:txBody>
      </p:sp>
      <p:sp>
        <p:nvSpPr>
          <p:cNvPr id="18" name="Text 16"/>
          <p:cNvSpPr/>
          <p:nvPr/>
        </p:nvSpPr>
        <p:spPr>
          <a:xfrm>
            <a:off x="10405872" y="64556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A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74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9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Y ALCANCE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1018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 QA hoy y qué se define antes de escalar.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2395728"/>
            <a:ext cx="5340096" cy="3401568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0160">
            <a:solidFill>
              <a:srgbClr val="DC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715768"/>
            <a:ext cx="4782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para QA</a:t>
            </a:r>
          </a:p>
        </p:txBody>
      </p:sp>
      <p:sp>
        <p:nvSpPr>
          <p:cNvPr id="6" name="Shape 4"/>
          <p:cNvSpPr/>
          <p:nvPr/>
        </p:nvSpPr>
        <p:spPr>
          <a:xfrm>
            <a:off x="877824" y="3392424"/>
            <a:ext cx="201168" cy="20116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3395167"/>
            <a:ext cx="201168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8" name="Text 6"/>
          <p:cNvSpPr/>
          <p:nvPr/>
        </p:nvSpPr>
        <p:spPr>
          <a:xfrm>
            <a:off x="1243584" y="33649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repetición técnica.</a:t>
            </a:r>
          </a:p>
        </p:txBody>
      </p:sp>
      <p:sp>
        <p:nvSpPr>
          <p:cNvPr id="9" name="Shape 7"/>
          <p:cNvSpPr/>
          <p:nvPr/>
        </p:nvSpPr>
        <p:spPr>
          <a:xfrm>
            <a:off x="877824" y="3813048"/>
            <a:ext cx="201168" cy="20116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815791"/>
            <a:ext cx="201168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1" name="Text 9"/>
          <p:cNvSpPr/>
          <p:nvPr/>
        </p:nvSpPr>
        <p:spPr>
          <a:xfrm>
            <a:off x="1243584" y="37856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desde caso hasta evidencia.</a:t>
            </a:r>
          </a:p>
        </p:txBody>
      </p:sp>
      <p:sp>
        <p:nvSpPr>
          <p:cNvPr id="12" name="Shape 10"/>
          <p:cNvSpPr/>
          <p:nvPr/>
        </p:nvSpPr>
        <p:spPr>
          <a:xfrm>
            <a:off x="877824" y="4233672"/>
            <a:ext cx="201168" cy="20116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236415"/>
            <a:ext cx="201168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4" name="Text 12"/>
          <p:cNvSpPr/>
          <p:nvPr/>
        </p:nvSpPr>
        <p:spPr>
          <a:xfrm>
            <a:off x="1243584" y="4206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comprensibles para QA y desarrollo.</a:t>
            </a:r>
          </a:p>
        </p:txBody>
      </p:sp>
      <p:sp>
        <p:nvSpPr>
          <p:cNvPr id="15" name="Shape 13"/>
          <p:cNvSpPr/>
          <p:nvPr/>
        </p:nvSpPr>
        <p:spPr>
          <a:xfrm>
            <a:off x="877824" y="4654296"/>
            <a:ext cx="201168" cy="20116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657039"/>
            <a:ext cx="201168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7" name="Text 15"/>
          <p:cNvSpPr/>
          <p:nvPr/>
        </p:nvSpPr>
        <p:spPr>
          <a:xfrm>
            <a:off x="1243584" y="46268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con contexto técnico y visual.</a:t>
            </a:r>
          </a:p>
        </p:txBody>
      </p:sp>
      <p:sp>
        <p:nvSpPr>
          <p:cNvPr id="18" name="Shape 16"/>
          <p:cNvSpPr/>
          <p:nvPr/>
        </p:nvSpPr>
        <p:spPr>
          <a:xfrm>
            <a:off x="877824" y="5074920"/>
            <a:ext cx="201168" cy="201168"/>
          </a:xfrm>
          <a:prstGeom prst="ellipse">
            <a:avLst/>
          </a:prstGeom>
          <a:solidFill>
            <a:srgbClr val="E7F6F8"/>
          </a:solidFill>
          <a:ln w="3810">
            <a:solidFill>
              <a:srgbClr val="E7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5077663"/>
            <a:ext cx="201168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0" name="Text 18"/>
          <p:cNvSpPr/>
          <p:nvPr/>
        </p:nvSpPr>
        <p:spPr>
          <a:xfrm>
            <a:off x="1243584" y="50474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reutilizable para nuevas aplicaciones web.</a:t>
            </a:r>
          </a:p>
        </p:txBody>
      </p:sp>
      <p:sp>
        <p:nvSpPr>
          <p:cNvPr id="21" name="Shape 19"/>
          <p:cNvSpPr/>
          <p:nvPr/>
        </p:nvSpPr>
        <p:spPr>
          <a:xfrm>
            <a:off x="6208776" y="2395728"/>
            <a:ext cx="5376672" cy="3401568"/>
          </a:xfrm>
          <a:prstGeom prst="roundRect">
            <a:avLst>
              <a:gd name="adj" fmla="val 3495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715768"/>
            <a:ext cx="4791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escalar con Rimac</a:t>
            </a:r>
          </a:p>
        </p:txBody>
      </p:sp>
      <p:sp>
        <p:nvSpPr>
          <p:cNvPr id="23" name="Text 21"/>
          <p:cNvSpPr/>
          <p:nvPr/>
        </p:nvSpPr>
        <p:spPr>
          <a:xfrm>
            <a:off x="6473952" y="33649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24" name="Text 22"/>
          <p:cNvSpPr/>
          <p:nvPr/>
        </p:nvSpPr>
        <p:spPr>
          <a:xfrm>
            <a:off x="6748272" y="3364992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candidatas.</a:t>
            </a:r>
          </a:p>
        </p:txBody>
      </p:sp>
      <p:sp>
        <p:nvSpPr>
          <p:cNvPr id="25" name="Text 23"/>
          <p:cNvSpPr/>
          <p:nvPr/>
        </p:nvSpPr>
        <p:spPr>
          <a:xfrm>
            <a:off x="6473952" y="378561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26" name="Text 24"/>
          <p:cNvSpPr/>
          <p:nvPr/>
        </p:nvSpPr>
        <p:spPr>
          <a:xfrm>
            <a:off x="6748272" y="3785616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Matriz, historias y criterios disponibles.</a:t>
            </a:r>
          </a:p>
        </p:txBody>
      </p:sp>
      <p:sp>
        <p:nvSpPr>
          <p:cNvPr id="27" name="Text 25"/>
          <p:cNvSpPr/>
          <p:nvPr/>
        </p:nvSpPr>
        <p:spPr>
          <a:xfrm>
            <a:off x="6473952" y="4206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28" name="Text 26"/>
          <p:cNvSpPr/>
          <p:nvPr/>
        </p:nvSpPr>
        <p:spPr>
          <a:xfrm>
            <a:off x="6748272" y="4206240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cobertura automatizable.</a:t>
            </a:r>
          </a:p>
        </p:txBody>
      </p:sp>
      <p:sp>
        <p:nvSpPr>
          <p:cNvPr id="29" name="Text 27"/>
          <p:cNvSpPr/>
          <p:nvPr/>
        </p:nvSpPr>
        <p:spPr>
          <a:xfrm>
            <a:off x="6473952" y="462686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30" name="Text 28"/>
          <p:cNvSpPr/>
          <p:nvPr/>
        </p:nvSpPr>
        <p:spPr>
          <a:xfrm>
            <a:off x="6748272" y="4626864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corporativos requeridos.</a:t>
            </a:r>
          </a:p>
        </p:txBody>
      </p:sp>
      <p:sp>
        <p:nvSpPr>
          <p:cNvPr id="31" name="Text 29"/>
          <p:cNvSpPr/>
          <p:nvPr/>
        </p:nvSpPr>
        <p:spPr>
          <a:xfrm>
            <a:off x="6473952" y="50474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32" name="Text 30"/>
          <p:cNvSpPr/>
          <p:nvPr/>
        </p:nvSpPr>
        <p:spPr>
          <a:xfrm>
            <a:off x="6748272" y="5047488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Célula, soporte y capacitación.</a:t>
            </a:r>
          </a:p>
        </p:txBody>
      </p:sp>
      <p:sp>
        <p:nvSpPr>
          <p:cNvPr id="33" name="Text 31"/>
          <p:cNvSpPr/>
          <p:nvPr/>
        </p:nvSpPr>
        <p:spPr>
          <a:xfrm>
            <a:off x="621792" y="59984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actual: pruebas web. Mobile y auditoría avanzada de requisitos se tratan como líneas de evolución.</a:t>
            </a:r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TESTGENERATOR  /  PRUEBAS AL RITMO DEL DESARROLLO</a:t>
            </a:r>
          </a:p>
        </p:txBody>
      </p:sp>
      <p:sp>
        <p:nvSpPr>
          <p:cNvPr id="35" name="Text 33"/>
          <p:cNvSpPr/>
          <p:nvPr/>
        </p:nvSpPr>
        <p:spPr>
          <a:xfrm>
            <a:off x="10405872" y="64556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2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/>
        </p:nvSpPr>
        <p:spPr>
          <a:xfrm>
            <a:off x="2450000" y="1250000"/>
            <a:ext cx="73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4000"/>
            </a:pPr>
            <a:r>
              <a:rPr lang="es-419" sz="52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Siguiente paso con Rimac</a:t>
            </a:r>
          </a:p>
        </p:txBody>
      </p:sp>
      <p:sp>
        <p:nvSpPr>
          <p:cNvPr id="501" name="Next Step 1"/>
          <p:cNvSpPr txBox="1"/>
          <p:nvPr/>
        </p:nvSpPr>
        <p:spPr>
          <a:xfrm>
            <a:off x="2900000" y="2700000"/>
            <a:ext cx="81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r>
              <a:rPr lang="es-ES" sz="2300">
                <a:solidFill>
                  <a:srgbClr val="FFFFFF"/>
                </a:solidFill>
              </a:rPr>
              <a:t>1. Seleccionar una aplicación web candidata.</a:t>
            </a:r>
          </a:p>
        </p:txBody>
      </p:sp>
      <p:sp>
        <p:nvSpPr>
          <p:cNvPr id="502" name="Next Step 2"/>
          <p:cNvSpPr txBox="1"/>
          <p:nvPr/>
        </p:nvSpPr>
        <p:spPr>
          <a:xfrm>
            <a:off x="2900000" y="3320000"/>
            <a:ext cx="81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r>
              <a:rPr lang="es-ES" sz="2300">
                <a:solidFill>
                  <a:srgbClr val="FFFFFF"/>
                </a:solidFill>
              </a:rPr>
              <a:t>2. Revisar matriz, historias y criterios disponibles.</a:t>
            </a:r>
          </a:p>
        </p:txBody>
      </p:sp>
      <p:sp>
        <p:nvSpPr>
          <p:cNvPr id="503" name="Next Step 3"/>
          <p:cNvSpPr txBox="1"/>
          <p:nvPr/>
        </p:nvSpPr>
        <p:spPr>
          <a:xfrm>
            <a:off x="2900000" y="3940000"/>
            <a:ext cx="81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r>
              <a:rPr lang="es-ES" sz="2300">
                <a:solidFill>
                  <a:srgbClr val="FFFFFF"/>
                </a:solidFill>
              </a:rPr>
              <a:t>3. Estimar cobertura y conectores requeridos.</a:t>
            </a:r>
          </a:p>
        </p:txBody>
      </p:sp>
      <p:sp>
        <p:nvSpPr>
          <p:cNvPr id="504" name="Next Step 4"/>
          <p:cNvSpPr txBox="1"/>
          <p:nvPr/>
        </p:nvSpPr>
        <p:spPr>
          <a:xfrm>
            <a:off x="2900000" y="4560000"/>
            <a:ext cx="81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r>
              <a:rPr lang="es-ES" sz="2300">
                <a:solidFill>
                  <a:srgbClr val="FFFFFF"/>
                </a:solidFill>
              </a:rPr>
              <a:t>4. Definir célula, soporte y capacitación.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2011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Noto Sans Symbols</vt:lpstr>
      <vt:lpstr>Titillium Web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TestGenerator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TestGenerator | Pruebas al ritmo del desarrollo</dc:title>
  <dc:subject>Propuesta comercial de automatizacion de pruebas asistida por IA</dc:subject>
  <dc:creator>TestGenerator</dc:creator>
  <cp:lastModifiedBy>Maidelis Jorge Reyes</cp:lastModifiedBy>
  <cp:revision>3</cp:revision>
  <dcterms:created xsi:type="dcterms:W3CDTF">2026-09-06T20:25:20Z</dcterms:created>
  <dcterms:modified xsi:type="dcterms:W3CDTF">2026-09-07T15:14:27Z</dcterms:modified>
</cp:coreProperties>
</file>